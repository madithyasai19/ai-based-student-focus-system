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7B68C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29800" y="685800"/>
            <a:ext cx="1463040" cy="146304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4" name="Image 0" descr="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5365" y="861365"/>
            <a:ext cx="1111910" cy="11119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14884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Study Companion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32461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mentor that plans, monitors, evaluates, and motivates the entire learning journey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3840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loop: how you study → what you learn → where you're headed.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juggle disconnected tools with no feedback loop between them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2F0FA"/>
          </a:solidFill>
          <a:ln/>
          <a:effectLst>
            <a:outerShdw sx="100000" sy="100000" kx="0" ky="0" algn="bl" rotWithShape="0" blurRad="76200" dist="25400" dir="5400000">
              <a:srgbClr val="9A93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822960" cy="822960"/>
          </a:xfrm>
          <a:prstGeom prst="ellipse">
            <a:avLst/>
          </a:prstGeom>
          <a:solidFill>
            <a:srgbClr val="4C3F91"/>
          </a:solidFill>
          <a:ln/>
        </p:spPr>
      </p:sp>
      <p:pic>
        <p:nvPicPr>
          <p:cNvPr id="6" name="Image 0" descr="icons/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3155" y="215615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08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Study Tools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planner here, flashcards there, a separate interview-prep app, a separate tutor. None of them talk to each other, so nothing gets smarter over time.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3977640"/>
          </a:xfrm>
          <a:prstGeom prst="roundRect">
            <a:avLst>
              <a:gd name="adj" fmla="val 2759"/>
            </a:avLst>
          </a:prstGeom>
          <a:solidFill>
            <a:srgbClr val="F2F0FA"/>
          </a:solidFill>
          <a:ln/>
          <a:effectLst>
            <a:outerShdw sx="100000" sy="100000" kx="0" ky="0" algn="bl" rotWithShape="0" blurRad="76200" dist="25400" dir="5400000">
              <a:srgbClr val="9A93B5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4C3F91"/>
          </a:solidFill>
          <a:ln/>
        </p:spPr>
      </p:sp>
      <p:pic>
        <p:nvPicPr>
          <p:cNvPr id="11" name="Image 1" descr="icons/eyesla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15" y="215615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10896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Study Blind Spots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374904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rarely know why a session didn't stick — low focus, bad timing, or a topic they haven't actually mastered all look the same from the outside.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C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effort without insight — students can't tell what's actually working.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core loops, one continuous feedback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6" name="Image 0" descr="icon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02536"/>
            <a:ext cx="521208" cy="521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Study Planner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3134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re-optimizes a daily/weekly plan from goals, deadlines, and available hours.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2F0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920240"/>
            <a:ext cx="685800" cy="68580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11" name="Image 1" descr="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002536"/>
            <a:ext cx="521208" cy="521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562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&amp; Session Monitoring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3134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attention and session quality on-device — privacy-first, opt-in by session.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2F0FA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16" name="Image 2" descr="icons/ques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105656"/>
            <a:ext cx="521208" cy="521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Quiz Generator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4165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any completed topic into MCQs, short answer, or coding questions, difficulty-adaptive.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70332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2F0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23360"/>
            <a:ext cx="685800" cy="68580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21" name="Image 3" descr="icons/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4105656"/>
            <a:ext cx="521208" cy="521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39593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Interview Coach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441655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Voice-based mock interviews with feedback on accuracy, confidence, and communication.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Different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moat competitors with generic content libraries don't have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148840"/>
            <a:ext cx="914400" cy="914400"/>
          </a:xfrm>
          <a:prstGeom prst="ellipse">
            <a:avLst/>
          </a:prstGeom>
          <a:solidFill>
            <a:srgbClr val="4C3F91"/>
          </a:solidFill>
          <a:ln/>
        </p:spPr>
      </p:sp>
      <p:pic>
        <p:nvPicPr>
          <p:cNvPr id="6" name="Image 0" descr="icons/fingerpr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108" y="225856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91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“Study DNA” Profile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9319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continuously-updated model of how this specific student learns best — peak hours, ideal session length, forgetting curve.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7373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0FA"/>
          </a:solidFill>
          <a:ln/>
        </p:spPr>
      </p:sp>
      <p:sp>
        <p:nvSpPr>
          <p:cNvPr id="10" name="Shape 7"/>
          <p:cNvSpPr/>
          <p:nvPr/>
        </p:nvSpPr>
        <p:spPr>
          <a:xfrm>
            <a:off x="5737860" y="2148840"/>
            <a:ext cx="914400" cy="914400"/>
          </a:xfrm>
          <a:prstGeom prst="ellipse">
            <a:avLst/>
          </a:prstGeom>
          <a:solidFill>
            <a:srgbClr val="4C3F91"/>
          </a:solidFill>
          <a:ln/>
        </p:spPr>
      </p:sp>
      <p:pic>
        <p:nvPicPr>
          <p:cNvPr id="11" name="Image 1" descr="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588" y="225856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91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 Loop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319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dashboards — concrete next steps like “you retain 40% more before 10am in 25-min blocks.”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7373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0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578340" y="2148840"/>
            <a:ext cx="914400" cy="91440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16" name="Image 2" descr="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068" y="225856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91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Privacy-First Monitoring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03920" y="393192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focus tracking, opt-in by session, student-controlled — trust as a feature, not an afterthought.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Monetization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core, expanding into institutions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0FA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103120"/>
            <a:ext cx="822960" cy="82296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6" name="Image 0" descr="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855" y="220187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planner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subject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quizzes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9120" y="17373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4C3F91"/>
          </a:solidFill>
          <a:ln/>
        </p:spPr>
      </p:sp>
      <p:sp>
        <p:nvSpPr>
          <p:cNvPr id="11" name="Shape 8"/>
          <p:cNvSpPr/>
          <p:nvPr/>
        </p:nvSpPr>
        <p:spPr>
          <a:xfrm>
            <a:off x="5783580" y="2103120"/>
            <a:ext cx="822960" cy="82296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12" name="Image 1" descr="icons/cr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335" y="2201875"/>
            <a:ext cx="625450" cy="625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Plus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61772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~$8–12/mo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70916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planner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monitoring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quizzes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0" y="1737360"/>
            <a:ext cx="3611880" cy="3931920"/>
          </a:xfrm>
          <a:prstGeom prst="roundRect">
            <a:avLst>
              <a:gd name="adj" fmla="val 3038"/>
            </a:avLst>
          </a:prstGeom>
          <a:solidFill>
            <a:srgbClr val="F2F0FA"/>
          </a:solidFill>
          <a:ln/>
        </p:spPr>
      </p:sp>
      <p:sp>
        <p:nvSpPr>
          <p:cNvPr id="17" name="Shape 13"/>
          <p:cNvSpPr/>
          <p:nvPr/>
        </p:nvSpPr>
        <p:spPr>
          <a:xfrm>
            <a:off x="9624060" y="2103120"/>
            <a:ext cx="822960" cy="822960"/>
          </a:xfrm>
          <a:prstGeom prst="ellipse">
            <a:avLst/>
          </a:prstGeom>
          <a:solidFill>
            <a:srgbClr val="7B68C4"/>
          </a:solidFill>
          <a:ln/>
        </p:spPr>
      </p:sp>
      <p:pic>
        <p:nvPicPr>
          <p:cNvPr id="18" name="Image 2" descr="icons/univers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2815" y="2201875"/>
            <a:ext cx="625450" cy="625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58200" y="3108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8458200" y="3520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Per-student/yr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549640" y="40233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accounts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exam mode</a:t>
            </a:r>
            <a:endParaRPr lang="en-US" sz="11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Daily Loop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goal-setting to a weekly review, six steps a student repeats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74420" y="2514600"/>
            <a:ext cx="438912" cy="438912"/>
          </a:xfrm>
          <a:prstGeom prst="ellipse">
            <a:avLst/>
          </a:prstGeom>
          <a:solidFill>
            <a:srgbClr val="4C3F91"/>
          </a:solidFill>
          <a:ln/>
        </p:spPr>
      </p:sp>
      <p:sp>
        <p:nvSpPr>
          <p:cNvPr id="5" name="Text 3"/>
          <p:cNvSpPr/>
          <p:nvPr/>
        </p:nvSpPr>
        <p:spPr>
          <a:xfrm>
            <a:off x="107442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25780" y="301752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2F0FA"/>
          </a:solidFill>
          <a:ln/>
        </p:spPr>
      </p:sp>
      <p:sp>
        <p:nvSpPr>
          <p:cNvPr id="7" name="Text 5"/>
          <p:cNvSpPr/>
          <p:nvPr/>
        </p:nvSpPr>
        <p:spPr>
          <a:xfrm>
            <a:off x="571500" y="3017520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Goals /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61972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94660" y="2514600"/>
            <a:ext cx="438912" cy="438912"/>
          </a:xfrm>
          <a:prstGeom prst="ellipse">
            <a:avLst/>
          </a:prstGeom>
          <a:solidFill>
            <a:srgbClr val="4C3F91"/>
          </a:solidFill>
          <a:ln/>
        </p:spPr>
      </p:sp>
      <p:sp>
        <p:nvSpPr>
          <p:cNvPr id="10" name="Text 8"/>
          <p:cNvSpPr/>
          <p:nvPr/>
        </p:nvSpPr>
        <p:spPr>
          <a:xfrm>
            <a:off x="299466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46020" y="301752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2F0FA"/>
          </a:solidFill>
          <a:ln/>
        </p:spPr>
      </p:sp>
      <p:sp>
        <p:nvSpPr>
          <p:cNvPr id="12" name="Text 10"/>
          <p:cNvSpPr/>
          <p:nvPr/>
        </p:nvSpPr>
        <p:spPr>
          <a:xfrm>
            <a:off x="2491740" y="3017520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AI-Built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82212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14900" y="2514600"/>
            <a:ext cx="438912" cy="438912"/>
          </a:xfrm>
          <a:prstGeom prst="ellipse">
            <a:avLst/>
          </a:prstGeom>
          <a:solidFill>
            <a:srgbClr val="4C3F91"/>
          </a:solidFill>
          <a:ln/>
        </p:spPr>
      </p:sp>
      <p:sp>
        <p:nvSpPr>
          <p:cNvPr id="15" name="Text 13"/>
          <p:cNvSpPr/>
          <p:nvPr/>
        </p:nvSpPr>
        <p:spPr>
          <a:xfrm>
            <a:off x="491490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66260" y="301752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2F0FA"/>
          </a:solidFill>
          <a:ln/>
        </p:spPr>
      </p:sp>
      <p:sp>
        <p:nvSpPr>
          <p:cNvPr id="17" name="Text 15"/>
          <p:cNvSpPr/>
          <p:nvPr/>
        </p:nvSpPr>
        <p:spPr>
          <a:xfrm>
            <a:off x="4411980" y="3017520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02452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35140" y="2514600"/>
            <a:ext cx="438912" cy="438912"/>
          </a:xfrm>
          <a:prstGeom prst="ellipse">
            <a:avLst/>
          </a:prstGeom>
          <a:solidFill>
            <a:srgbClr val="4C3F91"/>
          </a:solidFill>
          <a:ln/>
        </p:spPr>
      </p:sp>
      <p:sp>
        <p:nvSpPr>
          <p:cNvPr id="20" name="Text 18"/>
          <p:cNvSpPr/>
          <p:nvPr/>
        </p:nvSpPr>
        <p:spPr>
          <a:xfrm>
            <a:off x="683514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86500" y="301752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2F0FA"/>
          </a:solidFill>
          <a:ln/>
        </p:spPr>
      </p:sp>
      <p:sp>
        <p:nvSpPr>
          <p:cNvPr id="22" name="Text 20"/>
          <p:cNvSpPr/>
          <p:nvPr/>
        </p:nvSpPr>
        <p:spPr>
          <a:xfrm>
            <a:off x="6332220" y="3017520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22692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755380" y="2514600"/>
            <a:ext cx="438912" cy="438912"/>
          </a:xfrm>
          <a:prstGeom prst="ellipse">
            <a:avLst/>
          </a:prstGeom>
          <a:solidFill>
            <a:srgbClr val="4C3F91"/>
          </a:solidFill>
          <a:ln/>
        </p:spPr>
      </p:sp>
      <p:sp>
        <p:nvSpPr>
          <p:cNvPr id="25" name="Text 23"/>
          <p:cNvSpPr/>
          <p:nvPr/>
        </p:nvSpPr>
        <p:spPr>
          <a:xfrm>
            <a:off x="875538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06740" y="301752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2F0FA"/>
          </a:solidFill>
          <a:ln/>
        </p:spPr>
      </p:sp>
      <p:sp>
        <p:nvSpPr>
          <p:cNvPr id="27" name="Text 25"/>
          <p:cNvSpPr/>
          <p:nvPr/>
        </p:nvSpPr>
        <p:spPr>
          <a:xfrm>
            <a:off x="8252460" y="3017520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&amp;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742932" y="352044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0675620" y="2514600"/>
            <a:ext cx="438912" cy="438912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675620" y="2514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26980" y="301752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FB100"/>
          </a:solidFill>
          <a:ln/>
        </p:spPr>
      </p:sp>
      <p:sp>
        <p:nvSpPr>
          <p:cNvPr id="32" name="Text 30"/>
          <p:cNvSpPr/>
          <p:nvPr/>
        </p:nvSpPr>
        <p:spPr>
          <a:xfrm>
            <a:off x="10172700" y="3017520"/>
            <a:ext cx="1444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2120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review feeds straight back into next week's AI-built plan — the loop compounds.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for MVP, ready to scale into the full AI/CV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80644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4C3F91"/>
          </a:solidFill>
          <a:ln/>
        </p:spPr>
      </p:sp>
      <p:sp>
        <p:nvSpPr>
          <p:cNvPr id="5" name="Shape 3"/>
          <p:cNvSpPr/>
          <p:nvPr/>
        </p:nvSpPr>
        <p:spPr>
          <a:xfrm>
            <a:off x="1472184" y="2286000"/>
            <a:ext cx="822960" cy="822960"/>
          </a:xfrm>
          <a:prstGeom prst="ellipse">
            <a:avLst/>
          </a:prstGeom>
          <a:solidFill>
            <a:srgbClr val="17122B"/>
          </a:solidFill>
          <a:ln/>
        </p:spPr>
      </p:sp>
      <p:pic>
        <p:nvPicPr>
          <p:cNvPr id="6" name="Image 0" descr="icons/re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39" y="238475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3524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87852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7B68C4"/>
          </a:solidFill>
          <a:ln/>
        </p:spPr>
      </p:sp>
      <p:sp>
        <p:nvSpPr>
          <p:cNvPr id="10" name="Shape 7"/>
          <p:cNvSpPr/>
          <p:nvPr/>
        </p:nvSpPr>
        <p:spPr>
          <a:xfrm>
            <a:off x="4279392" y="2286000"/>
            <a:ext cx="822960" cy="822960"/>
          </a:xfrm>
          <a:prstGeom prst="ellipse">
            <a:avLst/>
          </a:prstGeom>
          <a:solidFill>
            <a:srgbClr val="17122B"/>
          </a:solidFill>
          <a:ln/>
        </p:spPr>
      </p:sp>
      <p:pic>
        <p:nvPicPr>
          <p:cNvPr id="11" name="Image 1" descr="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147" y="2384755"/>
            <a:ext cx="625450" cy="625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70732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70732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Celery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5060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4C3F91"/>
          </a:solidFill>
          <a:ln/>
        </p:spPr>
      </p:sp>
      <p:sp>
        <p:nvSpPr>
          <p:cNvPr id="15" name="Shape 11"/>
          <p:cNvSpPr/>
          <p:nvPr/>
        </p:nvSpPr>
        <p:spPr>
          <a:xfrm>
            <a:off x="7086600" y="2286000"/>
            <a:ext cx="822960" cy="822960"/>
          </a:xfrm>
          <a:prstGeom prst="ellipse">
            <a:avLst/>
          </a:prstGeom>
          <a:solidFill>
            <a:srgbClr val="17122B"/>
          </a:solidFill>
          <a:ln/>
        </p:spPr>
      </p:sp>
      <p:pic>
        <p:nvPicPr>
          <p:cNvPr id="16" name="Image 2" descr="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355" y="2384755"/>
            <a:ext cx="625450" cy="625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77940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77940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tutoring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doubt solver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CV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2268" y="1920240"/>
            <a:ext cx="2606040" cy="3383280"/>
          </a:xfrm>
          <a:prstGeom prst="roundRect">
            <a:avLst>
              <a:gd name="adj" fmla="val 4211"/>
            </a:avLst>
          </a:prstGeom>
          <a:solidFill>
            <a:srgbClr val="7B68C4"/>
          </a:solidFill>
          <a:ln/>
        </p:spPr>
      </p:sp>
      <p:sp>
        <p:nvSpPr>
          <p:cNvPr id="20" name="Shape 15"/>
          <p:cNvSpPr/>
          <p:nvPr/>
        </p:nvSpPr>
        <p:spPr>
          <a:xfrm>
            <a:off x="9893808" y="2286000"/>
            <a:ext cx="822960" cy="822960"/>
          </a:xfrm>
          <a:prstGeom prst="ellipse">
            <a:avLst/>
          </a:prstGeom>
          <a:solidFill>
            <a:srgbClr val="17122B"/>
          </a:solidFill>
          <a:ln/>
        </p:spPr>
      </p:sp>
      <p:pic>
        <p:nvPicPr>
          <p:cNvPr id="21" name="Image 3" descr="icons/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2563" y="2384755"/>
            <a:ext cx="625450" cy="62545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5148" y="33375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85148" y="388620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before breadth — win the core loop before expanding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1228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B3D"/>
          </a:solidFill>
          <a:ln/>
        </p:spPr>
      </p:sp>
      <p:sp>
        <p:nvSpPr>
          <p:cNvPr id="5" name="Shape 3"/>
          <p:cNvSpPr/>
          <p:nvPr/>
        </p:nvSpPr>
        <p:spPr>
          <a:xfrm>
            <a:off x="1618488" y="2240280"/>
            <a:ext cx="640080" cy="640080"/>
          </a:xfrm>
          <a:prstGeom prst="ellipse">
            <a:avLst/>
          </a:prstGeom>
          <a:solidFill>
            <a:srgbClr val="7B68C4"/>
          </a:solidFill>
          <a:ln/>
        </p:spPr>
      </p:sp>
      <p:sp>
        <p:nvSpPr>
          <p:cNvPr id="6" name="Text 4"/>
          <p:cNvSpPr/>
          <p:nvPr/>
        </p:nvSpPr>
        <p:spPr>
          <a:xfrm>
            <a:off x="161848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8388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4108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+ tracking + quizzes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1860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B3D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0" y="2240280"/>
            <a:ext cx="640080" cy="640080"/>
          </a:xfrm>
          <a:prstGeom prst="ellipse">
            <a:avLst/>
          </a:prstGeom>
          <a:solidFill>
            <a:srgbClr val="7B68C4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89020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4740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tracking + gamification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2492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B3D"/>
          </a:solidFill>
          <a:ln/>
        </p:spPr>
      </p:sp>
      <p:sp>
        <p:nvSpPr>
          <p:cNvPr id="15" name="Shape 13"/>
          <p:cNvSpPr/>
          <p:nvPr/>
        </p:nvSpPr>
        <p:spPr>
          <a:xfrm>
            <a:off x="7159752" y="2240280"/>
            <a:ext cx="640080" cy="640080"/>
          </a:xfrm>
          <a:prstGeom prst="ellipse">
            <a:avLst/>
          </a:prstGeom>
          <a:solidFill>
            <a:srgbClr val="7B68C4"/>
          </a:solidFill>
          <a:ln/>
        </p:spPr>
      </p:sp>
      <p:sp>
        <p:nvSpPr>
          <p:cNvPr id="16" name="Text 14"/>
          <p:cNvSpPr/>
          <p:nvPr/>
        </p:nvSpPr>
        <p:spPr>
          <a:xfrm>
            <a:off x="715975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9652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5372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 + career guidance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93124" y="192024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241B3D"/>
          </a:solidFill>
          <a:ln/>
        </p:spPr>
      </p:sp>
      <p:sp>
        <p:nvSpPr>
          <p:cNvPr id="20" name="Shape 18"/>
          <p:cNvSpPr/>
          <p:nvPr/>
        </p:nvSpPr>
        <p:spPr>
          <a:xfrm>
            <a:off x="9930384" y="2240280"/>
            <a:ext cx="640080" cy="640080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21" name="Text 19"/>
          <p:cNvSpPr/>
          <p:nvPr/>
        </p:nvSpPr>
        <p:spPr>
          <a:xfrm>
            <a:off x="993038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30284" y="30632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76004" y="34747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+ exam mode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B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Plan. Study. Prove it. Get hired.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2026-08-04T09:50:44Z</dcterms:created>
  <dcterms:modified xsi:type="dcterms:W3CDTF">2026-08-04T09:50:44Z</dcterms:modified>
</cp:coreProperties>
</file>